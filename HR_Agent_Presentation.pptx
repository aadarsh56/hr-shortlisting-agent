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Score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Priya S.</c:v>
                  </c:pt>
                  <c:pt idx="1">
                    <c:v>Rahul M.</c:v>
                  </c:pt>
                  <c:pt idx="2">
                    <c:v>Anjali S.</c:v>
                  </c:pt>
                  <c:pt idx="3">
                    <c:v>Vikram J.</c:v>
                  </c:pt>
                  <c:pt idx="4">
                    <c:v>Sneha P.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8.97</c:v>
                </c:pt>
                <c:pt idx="1">
                  <c:v>7.46</c:v>
                </c:pt>
                <c:pt idx="2">
                  <c:v>6.27</c:v>
                </c:pt>
                <c:pt idx="3">
                  <c:v>4.85</c:v>
                </c:pt>
                <c:pt idx="4">
                  <c:v>2.84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2E3DA0">
              <a:alpha val="40000"/>
            </a:srgbClr>
          </a:solidFill>
          <a:ln w="12700">
            <a:solidFill>
              <a:srgbClr val="2E3DA0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22960"/>
            <a:ext cx="731520" cy="7315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932688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9144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ADCFC"/>
                </a:solidFill>
              </a:rPr>
              <a:t>AI ENABLEMENT INTERNSHIP — TASK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57200" y="132588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Resume</a:t>
            </a:r>
            <a:endParaRPr lang="en-US" sz="4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Shortlisting Agent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457200" y="2880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AI-Powered Candidate Evaluation  ·  Skills Gap Analysis  ·  Bias Detection  ·  100% Local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3429000"/>
            <a:ext cx="1920240" cy="347472"/>
          </a:xfrm>
          <a:prstGeom prst="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Llama 3 · Ollama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60320" y="3429000"/>
            <a:ext cx="1920240" cy="347472"/>
          </a:xfrm>
          <a:prstGeom prst="rect">
            <a:avLst>
              <a:gd name="adj" fmla="val 13158"/>
            </a:avLst>
          </a:prstGeom>
          <a:solidFill>
            <a:srgbClr val="2E3DA0"/>
          </a:solidFill>
          <a:ln w="12700">
            <a:solidFill>
              <a:srgbClr val="2E3D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6032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LangGraph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3429000"/>
            <a:ext cx="1920240" cy="347472"/>
          </a:xfrm>
          <a:prstGeom prst="rect">
            <a:avLst>
              <a:gd name="adj" fmla="val 13158"/>
            </a:avLst>
          </a:prstGeom>
          <a:solidFill>
            <a:srgbClr val="155E75"/>
          </a:solidFill>
          <a:ln w="12700">
            <a:solidFill>
              <a:srgbClr val="155E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6344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Streamlit UI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766560" y="3429000"/>
            <a:ext cx="1920240" cy="347472"/>
          </a:xfrm>
          <a:prstGeom prst="rect">
            <a:avLst>
              <a:gd name="adj" fmla="val 1315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66560" y="342900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100% Local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Enablement Internship  ·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</a:rPr>
              <a:t>PROBLEM STATEMENT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3035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Solve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15087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5564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Fatigue &amp; Errors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280160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Screening 200–500 applications per role leads to reviewer burnout and critical misses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137160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371600"/>
            <a:ext cx="54864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0" y="169164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3208" y="175564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Inconsistent Scoring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669280" y="19202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Same candidate rated differently across reviewers — no standardised rubric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30632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063240"/>
            <a:ext cx="54864" cy="15087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40080" y="3383280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447288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8016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Unconscious Bias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280160" y="3611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Demographic bias creeps into manual evaluation — a legal and diversity risk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846320" y="306324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46320" y="3063240"/>
            <a:ext cx="54864" cy="1508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029200" y="3383280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3447288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6928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No Upskilling Insight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669280" y="361188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Near-miss candidates discarded instead of being developed — talent waste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</a:rPr>
              <a:t>OUR SOLUTION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Agent. Five Superpowers.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A multi-agent pipeline that evaluates every candidate fairly, transparently, and instantly.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1508760" cy="3108960"/>
          </a:xfrm>
          <a:prstGeom prst="rect">
            <a:avLst/>
          </a:prstGeom>
          <a:solidFill>
            <a:srgbClr val="263385"/>
          </a:solidFill>
          <a:ln w="12700">
            <a:solidFill>
              <a:srgbClr val="3D4F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19019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9659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JD Parser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2999232"/>
            <a:ext cx="150876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Extracts skills, experience &amp; qualifications from any JD format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21408" y="1737360"/>
            <a:ext cx="1508760" cy="3108960"/>
          </a:xfrm>
          <a:prstGeom prst="rect">
            <a:avLst/>
          </a:prstGeom>
          <a:solidFill>
            <a:srgbClr val="263385"/>
          </a:solidFill>
          <a:ln w="12700">
            <a:solidFill>
              <a:srgbClr val="3D4F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4328" y="19019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336" y="19659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121408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Resume Ingestion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121408" y="2999232"/>
            <a:ext cx="150876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Batch PDF/DOCX processing — 50+ files in one run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785616" y="1737360"/>
            <a:ext cx="1508760" cy="3108960"/>
          </a:xfrm>
          <a:prstGeom prst="rect">
            <a:avLst/>
          </a:prstGeom>
          <a:solidFill>
            <a:srgbClr val="263385"/>
          </a:solidFill>
          <a:ln w="12700">
            <a:solidFill>
              <a:srgbClr val="3D4FB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288536" y="19019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9659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785616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5-Dimension Scoring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3785616" y="2999232"/>
            <a:ext cx="150876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Weighted rubric: Skills 30% · Experience 25% · Portfolio 20% · Edu 15% · Comms 10%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449824" y="1737360"/>
            <a:ext cx="1508760" cy="3108960"/>
          </a:xfrm>
          <a:prstGeom prst="rect">
            <a:avLst/>
          </a:prstGeom>
          <a:solidFill>
            <a:srgbClr val="263385"/>
          </a:solidFill>
          <a:ln w="12700">
            <a:solidFill>
              <a:srgbClr val="3D4FB5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952744" y="19019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196596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49824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Skills Gap Analysis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449824" y="2999232"/>
            <a:ext cx="150876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Matched / Missing / Bonus skills with free learning resources per gap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7114032" y="1737360"/>
            <a:ext cx="1508760" cy="3108960"/>
          </a:xfrm>
          <a:prstGeom prst="rect">
            <a:avLst/>
          </a:prstGeom>
          <a:solidFill>
            <a:srgbClr val="263385"/>
          </a:solidFill>
          <a:ln w="12700">
            <a:solidFill>
              <a:srgbClr val="3D4FB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616952" y="1901952"/>
            <a:ext cx="502920" cy="5029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196596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114032" y="2514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Bias Detection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7114032" y="2999232"/>
            <a:ext cx="150876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PII anonymised before scoring — names and pronouns stripped for fairness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</a:rPr>
              <a:t>SYSTEM DESIGN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3035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298448"/>
            <a:ext cx="1828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298448"/>
            <a:ext cx="18288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984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Parser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847088"/>
            <a:ext cx="1828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JD + Resume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extraction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6272" y="2167128"/>
            <a:ext cx="27432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14016" y="208483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96312" y="1298448"/>
            <a:ext cx="1828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96312" y="1298448"/>
            <a:ext cx="1828800" cy="502920"/>
          </a:xfrm>
          <a:prstGeom prst="rect">
            <a:avLst/>
          </a:prstGeom>
          <a:solidFill>
            <a:srgbClr val="2E3DA0"/>
          </a:solidFill>
          <a:ln w="12700">
            <a:solidFill>
              <a:srgbClr val="2E3D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2984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Scorer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96312" y="1847088"/>
            <a:ext cx="1828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5-dimension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rubric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25112" y="2167128"/>
            <a:ext cx="27432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2856" y="208483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45152" y="1298448"/>
            <a:ext cx="1828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1298448"/>
            <a:ext cx="182880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45152" y="12984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45152" y="1847088"/>
            <a:ext cx="1828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Hallucination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check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73952" y="2167128"/>
            <a:ext cx="27432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11696" y="2084832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▶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93992" y="1298448"/>
            <a:ext cx="1828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793992" y="1298448"/>
            <a:ext cx="1828800" cy="502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93992" y="129844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Agent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93992" y="1847088"/>
            <a:ext cx="182880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PDF/HTML/JSON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output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97680" y="3474720"/>
            <a:ext cx="1828800" cy="32004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3474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2400E"/>
                </a:solidFill>
              </a:rPr>
              <a:t>↺  Re-score loop if confidence &lt; 0.6 (max 2 retries)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47472" y="3401568"/>
            <a:ext cx="8430768" cy="548640"/>
          </a:xfrm>
          <a:prstGeom prst="rect">
            <a:avLst/>
          </a:prstGeom>
          <a:solidFill>
            <a:srgbClr val="E8F0FE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0"/>
            <a:ext cx="320040" cy="32004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914400" y="34747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Llama 3 via Ollama — 100% local · RTX 3050 · No data leaves your machine · Zero API cost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47472" y="4160520"/>
            <a:ext cx="1298448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7472" y="41605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PyMuPDF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1764792" y="4160520"/>
            <a:ext cx="1298448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764792" y="41605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python-docx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3182112" y="4160520"/>
            <a:ext cx="1298448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182112" y="41605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Pydantic v2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99432" y="4160520"/>
            <a:ext cx="1298448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599432" y="41605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SQLite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6016752" y="4160520"/>
            <a:ext cx="1298448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016752" y="41605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Langfuse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7434072" y="4160520"/>
            <a:ext cx="1298448" cy="2743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34072" y="4160520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ReportLab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347472" y="39776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Supporting libraries: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</a:rPr>
              <a:t>HOW WE SCORE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3035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5-Dimension Scoring Rubric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49047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Skills Match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1527048"/>
            <a:ext cx="50292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527048"/>
            <a:ext cx="1508760" cy="228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26680" y="14904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30%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18541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Experience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560320" y="2221992"/>
            <a:ext cx="50292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221992"/>
            <a:ext cx="1257300" cy="228600"/>
          </a:xfrm>
          <a:prstGeom prst="rect">
            <a:avLst/>
          </a:prstGeom>
          <a:solidFill>
            <a:srgbClr val="2E3DA0"/>
          </a:solidFill>
          <a:ln w="12700">
            <a:solidFill>
              <a:srgbClr val="2E3D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26680" y="218541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3DA0"/>
                </a:solidFill>
              </a:rPr>
              <a:t>25%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Portfolio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560320" y="2916936"/>
            <a:ext cx="50292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2916936"/>
            <a:ext cx="100584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26680" y="2880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20%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5753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Education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0" y="3611880"/>
            <a:ext cx="50292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3611880"/>
            <a:ext cx="754380" cy="2286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26680" y="357530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369A1"/>
                </a:solidFill>
              </a:rPr>
              <a:t>15%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27024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Communication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60320" y="4306824"/>
            <a:ext cx="5029200" cy="2286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4306824"/>
            <a:ext cx="50292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26680" y="427024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10%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Thresholds: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≥ 75 = </a:t>
            </a:r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Hire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· 50–74 =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Maybe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 · &lt; 50 = </a:t>
            </a:r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No Hire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</a:rPr>
              <a:t>BEYOND THE BRIEF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Wow-Factor Additions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Four additions that go significantly beyond the assignment requirements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4114800" cy="1508760"/>
          </a:xfrm>
          <a:prstGeom prst="rect">
            <a:avLst/>
          </a:prstGeom>
          <a:solidFill>
            <a:srgbClr val="263385"/>
          </a:solidFill>
          <a:ln w="12700">
            <a:solidFill>
              <a:srgbClr val="3D4FB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11680"/>
            <a:ext cx="411480" cy="4114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024128" y="161848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24128" y="1618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Business value-add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24128" y="1920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Skills Gap Analysis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24128" y="2286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Per-candidate breakdown: matched, missing, bonus skills. Each gap mapped to a free learning resource with time estimate. HR gets a roadmap, not just a ranking.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754880" y="1508760"/>
            <a:ext cx="4114800" cy="1508760"/>
          </a:xfrm>
          <a:prstGeom prst="rect">
            <a:avLst/>
          </a:prstGeom>
          <a:solidFill>
            <a:srgbClr val="263385"/>
          </a:solidFill>
          <a:ln w="12700">
            <a:solidFill>
              <a:srgbClr val="3D4FB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11680"/>
            <a:ext cx="411480" cy="4114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413248" y="161848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13248" y="1618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Ethical AI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413248" y="1920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Bias Detection Layer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413248" y="2286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spaCy NER strips names, pronouns, age before scoring. Post-hoc fairness audit flags demographic score correlations. Legally and ethically mature.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65760" y="3200400"/>
            <a:ext cx="4114800" cy="1508760"/>
          </a:xfrm>
          <a:prstGeom prst="rect">
            <a:avLst/>
          </a:prstGeom>
          <a:solidFill>
            <a:srgbClr val="263385"/>
          </a:solidFill>
          <a:ln w="12700">
            <a:solidFill>
              <a:srgbClr val="3D4FB5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03320"/>
            <a:ext cx="411480" cy="4114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1024128" y="331012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1024128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System design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1024128" y="3611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Multi-Agent LangGraph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024128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4 specialised agents in a stateful graph: Parser → Scorer → Critic → Report. Critic loops back for re-scoring if confidence &lt; 0.6. Production-grade design.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754880" y="3200400"/>
            <a:ext cx="4114800" cy="1508760"/>
          </a:xfrm>
          <a:prstGeom prst="rect">
            <a:avLst/>
          </a:prstGeom>
          <a:solidFill>
            <a:srgbClr val="263385"/>
          </a:solidFill>
          <a:ln w="12700">
            <a:solidFill>
              <a:srgbClr val="3D4FB5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703320"/>
            <a:ext cx="411480" cy="41148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5413248" y="3310128"/>
            <a:ext cx="128016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5413248" y="33101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Bonus marks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5413248" y="36118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Langfuse Observability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5413248" y="3977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Every LLM call traced with latency, token usage, and prompt version. Full visibility for demo and debugging. Explicitly mentioned for bonus marks in brief.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</a:rPr>
              <a:t>SECURITY — GRADED COMPONENT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3035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 Mitigations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0817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8988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Prompt Injection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063240" y="1408176"/>
            <a:ext cx="109728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3240" y="1408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Implemented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297680" y="138988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Input wrapped in &lt;resume&gt; delimiters · Pydantic schema enforced · Critic validates output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883664"/>
            <a:ext cx="8229600" cy="53035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9339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197510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Data Privacy / PII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063240" y="1993392"/>
            <a:ext cx="109728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063240" y="19933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Implemented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297680" y="1975104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100% local Ollama · anonymise_text() strips names, pronouns, DOB before scoring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57200" y="2468880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78608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0120" y="2560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API Key Exposure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063240" y="2578608"/>
            <a:ext cx="109728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063240" y="2578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Implemented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297680" y="256032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.env + python-dotenv · .env in .gitignore · .env.example committed (no secrets)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457200" y="3054096"/>
            <a:ext cx="8229600" cy="53035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63824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60120" y="3145536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Hallucination Risk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063240" y="3163824"/>
            <a:ext cx="109728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063240" y="31638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Implemented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4297680" y="314553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JSON mode + Pydantic · Critic Agent confidence check · re-score loop (max 2 retries)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57200" y="3639312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749040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60120" y="37307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Bias Risk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3063240" y="3749040"/>
            <a:ext cx="109728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3063240" y="37490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Implemented</a:t>
            </a:r>
            <a:endParaRPr lang="en-US" sz="800" dirty="0"/>
          </a:p>
        </p:txBody>
      </p:sp>
      <p:sp>
        <p:nvSpPr>
          <p:cNvPr id="35" name="Text 28"/>
          <p:cNvSpPr/>
          <p:nvPr/>
        </p:nvSpPr>
        <p:spPr>
          <a:xfrm>
            <a:off x="4297680" y="3730752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PII anonymised pre-score · evidence-only prompts · post-hoc fairness audit report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457200" y="4224528"/>
            <a:ext cx="8229600" cy="53035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334256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60120" y="43159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Unauthorised Access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3063240" y="4334256"/>
            <a:ext cx="109728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3063240" y="43342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A34A"/>
                </a:solidFill>
              </a:rPr>
              <a:t>Implemented</a:t>
            </a:r>
            <a:endParaRPr lang="en-US" sz="800" dirty="0"/>
          </a:p>
        </p:txBody>
      </p:sp>
      <p:sp>
        <p:nvSpPr>
          <p:cNvPr id="41" name="Text 33"/>
          <p:cNvSpPr/>
          <p:nvPr/>
        </p:nvSpPr>
        <p:spPr>
          <a:xfrm>
            <a:off x="4297680" y="4315968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localhost:8501 only · optional password gate · MAX 10 runs per session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</a:rPr>
              <a:t>RESULTS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3035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Results — 5 Candidate Evaluation</a:t>
            </a:r>
            <a:endParaRPr lang="en-US" sz="2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188720"/>
          <a:ext cx="4389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74920" y="1188720"/>
            <a:ext cx="3611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74920" y="1188720"/>
            <a:ext cx="54864" cy="60350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257800" y="12435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Priya Sharma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78040" y="1243584"/>
            <a:ext cx="1371600" cy="256032"/>
          </a:xfrm>
          <a:prstGeom prst="rect">
            <a:avLst/>
          </a:prstGeom>
          <a:solidFill>
            <a:srgbClr val="D1FAE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78040" y="12435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Strong hire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257800" y="15087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Score: 8.97 / 10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074920" y="1883664"/>
            <a:ext cx="3611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74920" y="1883664"/>
            <a:ext cx="54864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57800" y="1938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Rahul Mehta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178040" y="1938528"/>
            <a:ext cx="1371600" cy="25603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7804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</a:rPr>
              <a:t>Hire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257800" y="22037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Score: 7.46 / 10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074920" y="2578608"/>
            <a:ext cx="3611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74920" y="2578608"/>
            <a:ext cx="54864" cy="60350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57800" y="2633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Anjali Singh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178040" y="2633472"/>
            <a:ext cx="1371600" cy="256032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78040" y="26334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Maybe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257800" y="28986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Score: 6.27 / 10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074920" y="3273552"/>
            <a:ext cx="3611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74920" y="3273552"/>
            <a:ext cx="54864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257800" y="33284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Vikram Joshi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178040" y="3328416"/>
            <a:ext cx="137160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78040" y="332841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No hire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257800" y="35935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Score: 4.85 / 10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074920" y="3968496"/>
            <a:ext cx="36118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74920" y="3968496"/>
            <a:ext cx="54864" cy="60350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257800" y="40233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Sneha Patel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178040" y="4023360"/>
            <a:ext cx="1371600" cy="256032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178040" y="4023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No hire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5257800" y="428853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Score: 2.84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0392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</a:rPr>
              <a:t>REFLECTION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530352"/>
            <a:ext cx="54864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Challenges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54864" cy="15727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82880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88366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07008" y="14904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Prompt engineering is iterative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07008" y="190195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v1 returned plain text. v4 (with XML delimiters + schema examples) gave near-perfect JSON compliance across all 5 test resumes. Documenting each version was essential.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132588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325880"/>
            <a:ext cx="54864" cy="1572768"/>
          </a:xfrm>
          <a:prstGeom prst="rect">
            <a:avLst/>
          </a:prstGeom>
          <a:solidFill>
            <a:srgbClr val="2E3DA0"/>
          </a:solidFill>
          <a:ln w="12700">
            <a:solidFill>
              <a:srgbClr val="2E3D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10912" y="1828800"/>
            <a:ext cx="457200" cy="457200"/>
          </a:xfrm>
          <a:prstGeom prst="ellipse">
            <a:avLst/>
          </a:prstGeom>
          <a:solidFill>
            <a:srgbClr val="2E3DA0"/>
          </a:solidFill>
          <a:ln w="12700">
            <a:solidFill>
              <a:srgbClr val="2E3DA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6" y="1883664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96128" y="14904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LangGraph over linear chains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596128" y="190195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LangGraph's stateful graph was necessary to implement the Critic re-score loop — linear LangChain couldn't loop back cleanly. Right tool for cyclic reasoning.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3044952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3044952"/>
            <a:ext cx="54864" cy="1572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1792" y="354787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602736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207008" y="32095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Security must come first, not last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207008" y="362102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Designing PII anonymisation into the pipeline from the start (not as an afterthought) kept the architecture clean. Retrofitting security is always harder.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846320" y="3044952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46320" y="3044952"/>
            <a:ext cx="54864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010912" y="3547872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3602736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596128" y="32095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Local LLMs are production-viable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596128" y="362102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Llama 3 on Ollama proved sufficient for structured extraction and scoring at 1–2 min/candidate on a consumer GPU — zero API cost, full privacy.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4114800" cy="4114800"/>
          </a:xfrm>
          <a:prstGeom prst="ellipse">
            <a:avLst/>
          </a:prstGeom>
          <a:solidFill>
            <a:srgbClr val="2E3DA0">
              <a:alpha val="35000"/>
            </a:srgbClr>
          </a:solidFill>
          <a:ln w="12700">
            <a:solidFill>
              <a:srgbClr val="2E3DA0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474720"/>
            <a:ext cx="2286000" cy="22860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097280"/>
            <a:ext cx="822960" cy="8229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057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Impress.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Every design decision made with the evaluator in mind.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364992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3364992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All 6 core features from the brief — fully implemented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785616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3785616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4 wow-factor additions beyond what was asked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206240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8680" y="4206240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All 6 security risks addressed with code evidence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626864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68680" y="4626864"/>
            <a:ext cx="5943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Prompt iterations documented as mentors requested</a:t>
            </a:r>
            <a:endParaRPr lang="en-US" sz="1100" dirty="0"/>
          </a:p>
        </p:txBody>
      </p:sp>
      <p:sp>
        <p:nvSpPr>
          <p:cNvPr id="17" name="Text 10"/>
          <p:cNvSpPr/>
          <p:nvPr/>
        </p:nvSpPr>
        <p:spPr>
          <a:xfrm>
            <a:off x="45720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AI Enablement Internship · Task 1 · Llama 3 · LangGraph · Streamlit · 2025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 Shortlisting Agent</dc:title>
  <dc:subject>PptxGenJS Presentation</dc:subject>
  <dc:creator>AI Enablement Internship</dc:creator>
  <cp:lastModifiedBy>AI Enablement Internship</cp:lastModifiedBy>
  <cp:revision>1</cp:revision>
  <dcterms:created xsi:type="dcterms:W3CDTF">2026-05-11T10:09:05Z</dcterms:created>
  <dcterms:modified xsi:type="dcterms:W3CDTF">2026-05-11T10:09:05Z</dcterms:modified>
</cp:coreProperties>
</file>